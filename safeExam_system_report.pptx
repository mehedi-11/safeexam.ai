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safeExam.Ai</a:t>
            </a:r>
          </a:p>
          <a:p>
            <a:pPr>
              <a:defRPr sz="2400" b="1">
                <a:solidFill>
                  <a:srgbClr val="93C5FD"/>
                </a:solidFill>
              </a:defRPr>
            </a:pPr>
            <a:r>
              <a:t>System Architecture &amp; Technical Engineering Report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Comprehensive Architectural Overview of Edge Computer Vision (YOLOv11) &amp; Multi-Tier Integrity Shields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Engineered by: safeExam.Ai Core Engineering Team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Specifications: React 18 • Node.js v20 • MongoDB Atlas • Agent ELI (Custom Trained YOLOv11)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SYSTEM REPORT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 &amp; Engineering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Platform Value Proposition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Eliminates bandwidth bottlenecks: Evaluates video frames on client device (&lt;5 kbps per candidate).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Dual-Shield Defense: Combines computer vision with strict OS/browser event guards.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Deterministic Violation Scoring: Standardized 10-demerit points ceiling prevents disputes.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Zero Cloud Video Storage: Complies with GDPR/privacy by processing video in RAM only.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Key Operational Metrics</a:t>
            </a:r>
          </a:p>
          <a:p>
            <a:pPr>
              <a:defRPr b="0" sz="1300">
                <a:solidFill>
                  <a:srgbClr val="0F172A"/>
                </a:solidFill>
              </a:defRPr>
            </a:pPr>
            <a:r>
              <a:t>• Inference Speed: 25 - 35 milliseconds per frame on standard dual-core laptop</a:t>
            </a:r>
          </a:p>
          <a:p>
            <a:pPr>
              <a:defRPr b="0" sz="1300">
                <a:solidFill>
                  <a:srgbClr val="0F172A"/>
                </a:solidFill>
              </a:defRPr>
            </a:pPr>
            <a:r>
              <a:t>• Network Traffic: &lt; 5 kbps per student (JSON audit payloads only)</a:t>
            </a:r>
          </a:p>
          <a:p>
            <a:pPr>
              <a:defRPr b="0" sz="1300">
                <a:solidFill>
                  <a:srgbClr val="0F172A"/>
                </a:solidFill>
              </a:defRPr>
            </a:pPr>
            <a:r>
              <a:t>• Auto-Submit Latency: &lt; 150 milliseconds via native Beacon API on exit</a:t>
            </a:r>
          </a:p>
          <a:p>
            <a:pPr>
              <a:defRPr b="0" sz="1300">
                <a:solidFill>
                  <a:srgbClr val="0F172A"/>
                </a:solidFill>
              </a:defRPr>
            </a:pPr>
            <a:r>
              <a:t>• Offline Fault Tolerance: 5-minute locked hold countdown before fail-safe auto-submit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SYSTEM REPORT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3-Tier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Presentation &amp; Edge AI Tier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React 18 Single Page Application with Vite build optimization.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WebRTC camera capture streamed directly to HTML5 Canvas.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Agent ELI YOLOv11 model running locally at 1 FPS in browser memory.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Heuristic traps for keyboard, mouse context menu, and visibility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Application &amp; Gateway Tier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Node.js v20+ and Express.js REST API with CORS &amp; security headers.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JSON Web Token (JWT) stateless auth with role-based access control.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Demerit Scoring Engine enforcing atomic increments &amp; 10-point limit.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Heartbeat receiver and automated 5-minute background offline scanner.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Database &amp; Audit Tier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MongoDB Atlas cluster with automated replication and auto-indexing.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StudentExam collection tracking real-time status and demerit scores.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ProctoringLog collection providing immutable chronologically ordered audits.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ExamQuestions collection supporting MCQ options and descriptive prompts.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SYSTEM REPORT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Proctoring Rules &amp; Penalty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AUTOMATED VIOLATION DETECTION &amp; PROGRESSIVE ENFORCEMENT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Shortcuts &amp; Right-Click (Ctrl+C/V/X/A): 1st time warning modal (0 pts); 2nd time onwards +1 Demerit Point.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Browser Reload / Refresh (F5 / Ctrl+R): Instant Auto-Submit via Beacon API. Locked upon reload.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Tab Switch / Window Blur: +2 Demerits; if away &gt;10s, 5s countdown modal -&gt; Auto-Submit.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Network Disconnection: Exam on hold (answering locked); auto-submits if offline &gt;5 minutes.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Mobile Phone Visible: &gt;=5s visible triggers 5s countdown confirmation modal -&gt; Auto-Submit.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Notebook / Open Book: +1 Demerit Point added progressively for every 5 seconds visible.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Camera Absence / Black Screen: 0 persons for &gt;10s triggers 5s countdown modal -&gt; Auto-Submit.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10 Demerit Points Cap: Immediate automated exam submission upon reaching 10 demerit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SYSTEM REPORT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Teacher Live Surveillance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Interactive Roster Tabs (Right Column)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'All Students Feed' master button at the top to view the unified session log.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Individual student tab buttons showing live candidate status.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Real-time 'Offline (Net Lost)' status badge when student heartbeat &gt;18s old.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Live Demerit score counters (X/10 pts) with color-coded warning badges.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Shows start time, submission time, and total questions attempted.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Dynamic AI Incident Feed (Left Column)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Instantly filters incidents to the selected student card tab.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Color-coded activity badges: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 - Blue: Student Joined Exam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 - Emerald: Exam Submission / Finished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 - Red: Browser Reload / 10 Demerits / Critical Violations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 - Amber: Tab Switch / Network Disconnect / Warning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 - Purple: Prohibited Keyboard Shortcut Intercepted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CSV export button for one-click audit downloading.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SYSTEM REPORT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Database Schemas &amp; Persistence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StudentExam Schema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student_id: String (Unique Identifier)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exam_id: ObjectId (References Exam)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status: started | in_progress | blocked | finished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demerit_points: Number (0 to 10)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last_heartbeat: Date (Pings every 10s)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started_at, completed_at: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ProctoringLog Schema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student_id, student_name: String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exam_id: ObjectId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activity_type: String (Join, Reload, AI, etc.)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details: String (Specific infraction context)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demerit_points: Number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timestamp: Date (ISO format)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SYSTEM REPORT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System Verification &amp; Production Readiness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QUALITY ASSURANCE &amp; TEST VERIFICATION</a:t>
            </a:r>
          </a:p>
          <a:p>
            <a:pPr>
              <a:defRPr b="0" sz="1300">
                <a:solidFill>
                  <a:srgbClr val="10B981"/>
                </a:solidFill>
              </a:defRPr>
            </a:pPr>
            <a:r>
              <a:t>✔ Vite Production Build: Passed with 0 errors (compiled in 19.77s; all assets bundled cleanly).</a:t>
            </a:r>
          </a:p>
          <a:p>
            <a:pPr>
              <a:defRPr b="0" sz="1300">
                <a:solidFill>
                  <a:srgbClr val="10B981"/>
                </a:solidFill>
              </a:defRPr>
            </a:pPr>
            <a:r>
              <a:t>✔ Backend REST API: Active on Port 5000 with MongoDB Atlas connectivity and heartbeat handling.</a:t>
            </a:r>
          </a:p>
          <a:p>
            <a:pPr>
              <a:defRPr b="0" sz="1300">
                <a:solidFill>
                  <a:srgbClr val="10B981"/>
                </a:solidFill>
              </a:defRPr>
            </a:pPr>
            <a:r>
              <a:t>✔ Edge AI Detection: Custom Trained YOLOv11 running smoothly in browser canvas at 1 FPS.</a:t>
            </a:r>
          </a:p>
          <a:p>
            <a:pPr>
              <a:defRPr b="0" sz="1300">
                <a:solidFill>
                  <a:srgbClr val="10B981"/>
                </a:solidFill>
              </a:defRPr>
            </a:pPr>
            <a:r>
              <a:t>✔ Beacon Auto-Submit: Verified immediate payload transmission on window unload and browser refresh.</a:t>
            </a:r>
          </a:p>
          <a:p>
            <a:pPr>
              <a:defRPr b="0" sz="1300">
                <a:solidFill>
                  <a:srgbClr val="10B981"/>
                </a:solidFill>
              </a:defRPr>
            </a:pPr>
            <a:r>
              <a:t>✔ 5-Minute Offline Hold: Client modal locks interactions; backend auto-submits abandoned attempts after 300s.</a:t>
            </a:r>
          </a:p>
          <a:p>
            <a:pPr>
              <a:defRPr b="0" sz="1300">
                <a:solidFill>
                  <a:srgbClr val="10B981"/>
                </a:solidFill>
              </a:defRPr>
            </a:pPr>
            <a:r>
              <a:t>✔ Interactive Teacher Tabs: Clicking student tab correctly updates active CSS and filters incident feed.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