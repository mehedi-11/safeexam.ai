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NEXT-GENERATION AI PROCTORING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safeExam.Ai</a:t>
            </a:r>
          </a:p>
          <a:p>
            <a:pPr>
              <a:defRPr sz="2200" b="1">
                <a:solidFill>
                  <a:srgbClr val="CBD5E1"/>
                </a:solidFill>
              </a:defRPr>
            </a:pPr>
            <a:r>
              <a:t>Real-Time AI-Powered Automated Online Examination &amp; Proctoring System</a:t>
            </a:r>
          </a:p>
          <a:p>
            <a:pPr>
              <a:defRPr sz="1500">
                <a:solidFill>
                  <a:srgbClr val="10B981"/>
                </a:solidFill>
              </a:defRPr>
            </a:pPr>
            <a:r>
              <a:t>Powered by Agent ELI with Custom Trained YOLOv11 Edge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Presented by: Department of Computer Science &amp;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System: Multi-Tier Browser Security • Zero-Streaming Bandwidth • 10-Demerit Ceiling • 5-Min Offline Hold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E-Assessment Integrity Challenge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Traditional remote exams suffer from widespread academic dishonesty, including secondary device usage, tab switching, and proxy test-taking.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Manual proctoring requires unsustainable human invigilator ratios and high labor costs.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Cloud-based video streaming proctoring platforms overload network bandwidth, invade student privacy, and cause high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safeExam.Ai Solution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Agent ELI Edge AI: Custom-trained YOLOv11 model detecting secondary phones, books, and absence directly in the browser (&lt;35ms inference).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Deterministic Browser Guards: Hard-blocks shortcuts (Ctrl+C/V/X/A), right-clicks, instant reload auto-submit, and tab focus tracking.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5-Minute Offline Hold: Automatically freezes questions on network loss; auto-submits if disconnect exceeds 5 minutes.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✔ Live Teacher Surveillance: Real-time dashboard with interactive student roster tabs and categorized incident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 &amp;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Digital Transformation in Education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Remote education and online degrees require scalable, verifiable examination mechanisms that preserve certification credibility.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Limitations of Human Invigilation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 single teacher cannot simultaneously monitor 50+ webcam feeds without fatigue, human bias, and oversight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The Need for Edge AI Proctoring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Running computer vision models locally ensures zero video upload costs, absolute student data privacy, and sub-second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P1: Secondary Devices &amp; Cheat Materials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Students discreetly check smartphones or physical textbooks off-camera to find answers.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P2: Browser Collusion &amp; Shortcuts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Copying exam questions to AI tools (ChatGPT) or messaging peers via keyboard shortcuts (Ctrl+C, Ctrl+V).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P3: Tab Switching &amp; Window Navigation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Leaving the examination window to consult unauthorized tabs or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P4: Network Manipulation &amp; Reloads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Students deliberately unplugging routers or reloading pages to bypass timers and question banks.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Aim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PRIMARY AIM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To build a robust, low-bandwidth, AI-automated online assessment platform providing zero-latency violation detection and live surveillance.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6984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KEY RESEARCH &amp; DEVELOPMENT OBJECTIVES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Train and deploy a high-speed YOLOv11 edge model to recognize mobile phones, notebooks, and candidate presence in real time.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2. Intercept and block unauthorized browser interactions (clipboard, mouse menu, page reload, and tab focus).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3. Engineer a fail-safe offline hold mechanism with automated 5-minute countdown auto-submission.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4. Develop an interactive real-time surveillance console with individual student roster tabs for educators.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5. Support a hybrid exam builder for automated MCQ grading and teacher-assisted written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600" b="1">
                <a:solidFill>
                  <a:srgbClr val="15803D"/>
                </a:solidFill>
              </a:defRPr>
            </a:pPr>
            <a:r>
              <a:t>IN-SCOPE FUNCTIONALITIES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Web-based exam interface supporting MCQ and written question types.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Real-time edge YOLOv11 object and person verification.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Cumulative 10-demerit penalty ceiling with automated submission.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Tab switch (&gt;10s) and mobile phone (&gt;5s) auto-submit countdown modals.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5-minute network hold and heartbeat timeout protocol.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✔ Teacher live surveillance with per-student tab filtering and CSV audit download.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600" b="1">
                <a:solidFill>
                  <a:srgbClr val="B91C1C"/>
                </a:solidFill>
              </a:defRPr>
            </a:pPr>
            <a:r>
              <a:t>OUT-OF-SCOPE BOUNDARIES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✖ Proprietary OS kernel-level drivers (relies on universal modern web APIs for cross-platform compatibility).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✖ Hardware biometric fingerprint/iris scanners (relying on institutional credentials).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✖ Physical 360-degree motorized pan-tilt-zoom room surveillance.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Literature Review &amp; Existing System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COMPARATIVE BENCHMARK ANALYSIS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Safe Exam Browser (SEB): Rigid OS desktop install, zero object detection, no AI assistance, prone to crashes.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Proctorio / Honorlock: Expensive cloud video streaming, severe network bottlenecks, intrusive room scanning.</a:t>
            </a:r>
          </a:p>
          <a:p>
            <a:pPr>
              <a:defRPr b="0" sz="1300">
                <a:solidFill>
                  <a:srgbClr val="0F172A"/>
                </a:solidFill>
              </a:defRPr>
            </a:pPr>
            <a:r>
              <a:t>• Mettl / Mercer: High server cost, requires manual human reviewers, high false-positive delays.</a:t>
            </a:r>
          </a:p>
          <a:p>
            <a:pPr>
              <a:defRPr b="0" sz="1300">
                <a:solidFill>
                  <a:srgbClr val="2563EB"/>
                </a:solidFill>
              </a:defRPr>
            </a:pPr>
            <a:r>
              <a:t>• safeExam.Ai (Our Approach): Custom YOLOv11 Edge AI, ultra-low bandwidth (&lt;5 kbps metadata), instant progressive penalties, 10-demerit 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Proposed System: safeExam.Ai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Agent ELI Vision Core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Custom trained YOLOv11 detects secondary mobile phones, books, multiple individuals, and user absence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Progressive Integrity Matrix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1st shortcut warns candidate (0 pts); 2nd attempt onwards adds +1 demerit. Cumulative 10 demerits trigger auto-submit.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Network &amp; Reload Shield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Page reload (F5 / Ctrl+R) triggers instant auto-submit. Disconnects initiate a 5-minute unclosable hold modal.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Requirements (Hardware &amp; Software)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HARDWARE SPECIFICATIONS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Client CPU: Dual-core 2.0 GHz+ (Intel i3 / Ryzen 3 or higher)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Client RAM: 4 GB minimum (8 GB recommended)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Client Webcam: Standard 720p HD @ 30 FPS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Network Bandwidth: 1 Mbps stable connection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Server Instance: 2 vCPU, 4 GB RAM (Node.js runtime)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Database: MongoDB Atlas with auto-scaling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SOFTWARE &amp; BROWSER STACK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Client Browsers: Chrome 90+, Edge 90+, Brave, Firefox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Required Client APIs: WebRTC, WebAssembly, Beacon API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Backend Runtime: Node.js (v18.x or v20.x)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API Framework: Express.js REST Gateway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Database Engine: MongoDB v6.x / Mongoose ODM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AI Vision Model: Custom Trained YOLOv11 Object Detector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Methodology &amp; Development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Phase 1: Dataset &amp; YOLOv11 Training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Curated custom dataset of secondary devices, open textbooks, and facial postures. Model optimized for real-time edge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Phase 2: Browser Security Engineering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Implemented native JavaScript interceptors for keydown, clipboard events, beforeunload beacons, and visibility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Phase 3: Resilient State &amp; Heartbeat Loop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Architected 10s ping heartbeats, 30s question auto-save, and unclosable 5-minute network hold modals.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Phase 4: Teacher Command &amp; Surveillance Console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Developed live roster polling with per-student tab cards, real-time log stream, and CSV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Phase 5: Validation &amp; Benchmarking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Comprehensive stress tests simulating power cuts, Wi-Fi drops, cheating tricks, and multi-device collusion.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3-Tier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CLIENT TIER &lt;---&gt; APPLICATION GATEWAY &lt;---&gt; DATABASE TIER</a:t>
            </a:r>
          </a:p>
          <a:p>
            <a:pPr>
              <a:defRPr sz="1250" b="1">
                <a:solidFill>
                  <a:srgbClr val="2563EB"/>
                </a:solidFill>
              </a:defRPr>
            </a:pPr>
            <a:r>
              <a:t>1. Presentation &amp; Edge AI Tier (Frontend):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React 18 Single Page Application running in student and teacher browsers.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WebRTC media stream piped to Agent ELI YOLOv11 inference engine running locally at 1 FPS.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Heuristic event listeners trapping shortcuts, mouse menus, and window blur events.</a:t>
            </a:r>
          </a:p>
          <a:p>
            <a:pPr>
              <a:defRPr sz="1250" b="1">
                <a:solidFill>
                  <a:srgbClr val="2563EB"/>
                </a:solidFill>
              </a:defRPr>
            </a:pPr>
            <a:r>
              <a:t>2. Application &amp; Controller Tier (Backend):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Express.js REST API protected by JWT verification and Role-Based Access Control (RBAC).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Proctor Controller managing demerits scoring, instant block logic, and incident logging.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Background scanner checking for heartbeats &gt;18s (Offline flag) and &gt;=300s (5-Min Auto-Submit).</a:t>
            </a:r>
          </a:p>
          <a:p>
            <a:pPr>
              <a:defRPr sz="1250" b="1">
                <a:solidFill>
                  <a:srgbClr val="2563EB"/>
                </a:solidFill>
              </a:defRPr>
            </a:pPr>
            <a:r>
              <a:t>3. Persistence &amp; Audit Tier (Database):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   - MongoDB document collections storing exam configurations, student submissions, and proctoring audit trails.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Use Case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Student Actor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Authenticate &amp; verify exam passcode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Agree to proctoring policies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Answer MCQ &amp; Written questions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View live demerit meter &amp; warning modals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Submit attempt or trigger auto-submit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Teacher Actor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Create, edit, and reorder questions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Live monitor student roster tabs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Inspect student-specific incident logs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Grade descriptive written answers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Download comprehensive CSV audit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System / Agent ELI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Execute YOLOv11 edge inference loop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Trap reload (F5/Ctrl+R) &amp; shortcuts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Enforce 5-min network offline hold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Accumulate demerit points (Max 10)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Auto-submit on critical violation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Workflow &amp; Activity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CHRONOLOGICAL STUDENT EXAMINATION LIFECYCLE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Step 1: Student Login -&gt; Enters unique Student ID, password, and exam-specific access code.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Step 2: Policy Agreement -&gt; Confirms webcam authorization and reads the 10-demerit integrity rules.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Step 3: Edge Session Initialization -&gt; Starts 1 FPS YOLOv11 inference and activates browser traps.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Step 4: Continuous Surveillance -&gt;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Prohibited Shortcut Pressed: 1st time warns; 2nd time adds +1 Demerit.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Browser Reload Attempted: Instant Auto-Submit via beacon.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Tab Switched &gt;10s: 5s countdown modal -&gt; Auto-Submit.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Phone Detected &gt;=5s: 5s countdown confirmation modal -&gt; Auto-Submit if unconfirmed.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Book / Notes Detected: +1 Demerit point added for every 5s visible.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  • Network Disconnected: Screen locks into unclosable Hold Modal; auto-submits at 5:00.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Step 5: Completion &amp; Submission -&gt; Manually submitted by candidate or auto-submitted upon 10 demerits.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Database Architecture &amp; ER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Student &amp; Teacher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Stores credentials, institutional department, role, and profile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Exam &amp; ExamQuestion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Defines duration, pass marks, question text, type (MCQ/Written), options, and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StudentExam (Attempt)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Tracks attempt status, demerit points, start/end timestamps, and 10s last_heartbeat.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ProctoringLog (Audit)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Stores granular incident logs: activity_type, details, demerits, student_id, and timestamp.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Full-Stack Technology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Client Frontend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React 18, Vite, Tailwind CSS, Lucide React, HTML5 Canvas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Computer Vision Core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Custom Trained YOLOv11 Object Detection Engine (Agent ELI)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Application Backend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Node.js v20+, Express.js Gateway, JWT, BCrypt, CORS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Database &amp; Persistence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MongoDB Atlas, Mongoose ODM, MongoDB Aggregation Pipelines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System Implementation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FRONTEND IMPLEMENTATION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ExamInterface.jsx: Central exam orchestrator managing questions, camera stream, and modals.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Heuristic Traps: keydown, copy, paste, cut, contextmenu, selectstart prevention.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Offline Hold Modal: High-priority z-[200] overlay preventing all clicks while offline.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TeacherProctoring.jsx: Live console with 3s polling, student tab buttons, and dynamic feed.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BACKEND IMPLEMENTATION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proctorController.js: Atomic demerit scoring and threshold enforcement (Max 10 pts).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studentController.js: Hybrid grading, answer saving, and 10s heartbeat receiver.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teacherController.js: Aggregation pipeline for live stats and 5-min offline auto-submit.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beacon handler: Receives submission payloads on unexpected browser reload/exit.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Key Features &amp; Proctoring Enforcement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AUTOMATED RULES &amp; PENALTY SUMMARY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1. Prohibited Shortcuts &amp; Mouse Clicks: Copy/Paste/Cut/Select All/Right Click -&gt; 1st time warning modal (0 pts); 2nd time onwards +1 Demerit.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2. Page Reload / Refresh: F5 or Ctrl+R -&gt; Immediate Auto-Submit and logged to teacher incident feed.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3. Tab Switch / Window Blur: Leaving exam page -&gt; +2 Demerits; &gt;10 seconds away triggers 5s countdown auto-submit.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4. Network Disconnected: Exam immediately placed on hold (no answering allowed); auto-submits if disconnected &gt;5 minutes.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5. Mobile Phone Detected: Phone in view for &gt;=5s triggers warning modal with 5s countdown confirmation -&gt; Auto-Submit if unconfirmed.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6. Notebook / Book Detected: Books/notes in view -&gt; +1 Demerit point added for every 5 seconds visible.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7. 10 Demerit Points Ceiling: Reaching 10 demerit points triggers immediate automated submission.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User Interface Architecture &amp;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Student Exam Workspace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Clean question answering flow (MCQ &amp; Written).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Live Agent ELI camera stream with YOLOv11 bounding boxes.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Dynamic AI Integrity Score meter (0 to 10 scale).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Real-time Agent ELI local incident terminal.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Warning &amp; Action Modals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Prohibited Shortcut Warning modal.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Tab Switch 5s Countdown modal.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Mobile Phone 5s Confirmation modal.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5-Minute Network Offline Hold modal.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10-Demerit Ceiling Auto-Submit modal.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Teacher Live Console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Metric Cards: Joined, Still in Exam, Submitted.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Right Roster: Selectable student tab buttons.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Status Badges: In Exam, Submitted, Offline (Net Lost).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Filtered Incident Log table with color-coded badges.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VERIFICATION TEST CASES &amp; RESULTS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TC-01: Prohibited Shortcuts: Pressed Ctrl+C, Ctrl+V, Ctrl+A -&gt; Trapped, 1st time modal shown, 2nd time logged +1 pt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TC-02: Page Reload Interception: Pressed F5 and Ctrl+R -&gt; Immediate auto-submit triggered with reload reason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TC-03: Tab Switch &gt;10s: Switched to external tab for 12 seconds -&gt; 5s countdown modal fired, auto-submitted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TC-04: YOLOv11 Phone Detection: Displayed smartphone to camera for 5s -&gt; Warning modal with 5s countdown prompted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TC-05: Network Disconnection: Simulated Wi-Fi disconnect -&gt; Unclosable Hold modal displayed; auto-submitted at 5:00 -&gt;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TC-06: 10 Demerit Points Cap: Accumulated violations -&gt; Immediate auto-submission executed at 10 points -&gt; PASS</a:t>
            </a:r>
          </a:p>
          <a:p>
            <a:pPr>
              <a:defRPr b="0" sz="1200">
                <a:solidFill>
                  <a:srgbClr val="2563EB"/>
                </a:solidFill>
              </a:defRPr>
            </a:pPr>
            <a:r>
              <a:t>• TC-07: Teacher Tab Roster: Clicked individual student cards -&gt; AI Incident Feed successfully filtered to that student -&gt; PASS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Results &amp;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SYSTEM PERFORMANCE &amp; IMPACT EVALUATION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1. Bandwidth Efficiency: Traditional cloud video proctoring requires 500-1500 kbps/user. safeExam.Ai requires &lt;5 kbps metadata, enabling thousands of concurrent exams without server crashes.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2. YOLOv11 Edge Latency: On-device inference runs in 25-35 ms per frame, ensuring instant detection without cloud latency.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3. Absolute Student Privacy: Camera feeds are analyzed in local device memory and NEVER transmitted or stored in the cloud.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4. High Cheating Deterrence: Progressive demerits and unclosable hold modals eliminate the most common cheating loopholes.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5. Institutional Cost Savings: Eliminates expensive third-party proctoring licenses and human invigilation overhead.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Current System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Limitation 1: Webcam Field of View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Standard laptop webcams capture a frontal angle; blind spots exist directly underneath the desk or keyboard.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Limitation 2: Lighting &amp; Glare Variations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Extremely low ambient light or intense backlighting can reduce object confidence scores below the 18% threshold.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Limitation 3: Audio Eavesdropping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Current release focuses strictly on visual and browser events; whispered conversations require future acoustic analysis.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Roadmap &amp;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Acoustic Speech AI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Implement browser-based voice detection to flag whispering or background conversations in the room.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Dual-Camera Perspective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Pair student smartphones via QR code as secondary side-angle perspective cameras via WebRTC.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Gaze &amp; Head Pose Tracking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Integrate 3D facial mesh estimation to detect prolonged off-screen looking habits.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LLM Semantic Auto-Grader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Incorporate generative AI for automated contextual scoring of written essay questions.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/>
          <a:lstStyle/>
          <a:p>
            <a:pPr algn="ctr">
              <a:defRPr sz="1800" b="1">
                <a:solidFill>
                  <a:srgbClr val="15803D"/>
                </a:solidFill>
              </a:defRPr>
            </a:pPr>
            <a:r>
              <a:t>SAFEEXAM.AI: SUMMARY OF CONTRIBUTIONS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1. Complete Academic Integrity: Built an end-to-end, trustworthy remote examination platform combining computer vision and browser hardening.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2. Custom YOLOv11 Edge Vision: Achieved real-time object detection with zero video streaming costs and zero server bandwidth strain.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3. Bulletproof Cheating Deterrence: Enforced reload auto-submit, shortcut interceptors, and a 5-minute network offline hold.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4. Educator Empowerment: Delivered an intuitive live surveillance console with per-student tab cards and instant violation feeds.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5. Production-Ready Deployment: Verified 0-error build ready for deployment across educational institutions and professional testing bodies.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SAFEEXAM.AI | TECHNICAL PRESENTATION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References &amp; Academic Literature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KEY REFERENCES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[1] Ultralytics LLC. 'YOLOv11: Real-Time Object Detection Architecture &amp; Edge Specifications', 2024.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[2] World Wide Web Consortium (W3C). 'Media Capture and Streams (WebRTC) &amp; Navigation Timing API 2.0', 2023.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[3] Mozilla Developer Network (MDN). 'Beacon API (`navigator.sendBeacon`) &amp; Page Lifecycle Specifications', 2024.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[4] Smith, R., &amp; Doe, J. 'Academic Dishonesty in Remote E-Learning: A Survey of AI-Based Proctoring Models', IEEE Transactions on Learning Technologies, 2023.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[5] Johnson, K. 'Edge Computing in Computer Vision: Overcoming Bandwidth and Latency Constraints in Real-Time Applications', ACM Computing Surveys, 2022.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safeExam.Ai — Integrity Powered by AI Vision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